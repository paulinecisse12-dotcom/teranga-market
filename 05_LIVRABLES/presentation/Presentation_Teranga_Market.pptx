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3B7A"/>
                </a:solidFill>
                <a:latin typeface="Calibri"/>
              </a:defRPr>
            </a:pPr>
            <a:r>
              <a:rPr lang="fr-FR" sz="1400" b="0" i="0" u="none" strike="noStrike">
                <a:solidFill>
                  <a:srgbClr val="003B7A"/>
                </a:solidFill>
                <a:latin typeface="Calibri"/>
              </a:rPr>
              <a:t>Erreur moyenne (MAE) — plus bas = mieux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(unités/jour)</c:v>
                </c:pt>
              </c:strCache>
            </c:strRef>
          </c:tx>
          <c:spPr>
            <a:solidFill>
              <a:srgbClr val="003B7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Baseline naïf</c:v>
                </c:pt>
                <c:pt idx="1">
                  <c:v>Prophet</c:v>
                </c:pt>
                <c:pt idx="2">
                  <c:v>Prophet + promo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65.900000000000006</c:v>
                </c:pt>
                <c:pt idx="1">
                  <c:v>43.5</c:v>
                </c:pt>
                <c:pt idx="2">
                  <c:v>37.299999999999997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A0A-479A-97F9-4E90CC9FB2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8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Recall@5 (%)</c:v>
                </c:pt>
              </c:strCache>
            </c:strRef>
          </c:tx>
          <c:spPr>
            <a:solidFill>
              <a:srgbClr val="003B7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B2A3A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Hasard</c:v>
                </c:pt>
                <c:pt idx="1">
                  <c:v>Populaire</c:v>
                </c:pt>
                <c:pt idx="2">
                  <c:v>Content</c:v>
                </c:pt>
                <c:pt idx="3">
                  <c:v>Collaboratif</c:v>
                </c:pt>
                <c:pt idx="4">
                  <c:v>Hybride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6.9</c:v>
                </c:pt>
                <c:pt idx="2">
                  <c:v>1.2</c:v>
                </c:pt>
                <c:pt idx="3">
                  <c:v>6.8</c:v>
                </c:pt>
                <c:pt idx="4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5D-476F-9C9A-18C6B5FEB59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8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3965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nous présentons la plateforme data-driven conçue pour Teranga Market : prévision, pricing et recommandation, de la donnée jusqu'à la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problèmes concrets : prix fixes, mauvaise gestion des stocks (17,2 Md immobilisés), et catalogue mal exploité.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Objectifs SMART : +8% de marge, -20% de ruptures, +15% de conversion, -10% de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L'architecture en 6 couches : des sources jusqu'au dashboard, avec Airflow, le MLOps et la gouvernance en transversal.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jeu 100% synthétique et reproductible : 500 produits, 10 000 clients, 100 000 ventes, 1 M d'événements. Qualité : 21/21.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Prophet réduit l'erreur de 34%, et l'ajout des promotions la porte à -43% au total. C'est ce qui alimente la couverture de stock.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estime l'élasticité (~ -2,5) et on calcule le prix optimal : +14% de prix se traduit par +3,8% de marge.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assume un résultat honnête : la popularité est une baseline forte. La reco apporte de la personnalisation, à confirmer par A/B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modèles sont rendus utilisables (API), visibles (dashboard 11 sections) et surveillés (MLOps).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635 M/an de bénéfice potentiel pour 36 M/an de coûts : ROI très favorable. Ce sont des montants en régime établi, atteints progressivement.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Trame de démo : 1) lancer l'API puis le dashboard ; 2) montrer les KPIs ; 3) jouer avec le simulateur de prix ; 4) montrer la couverture de stock ; 5) faire une reco en direct via l'API. Bien lancer les 2 terminaux AVANT la soutenance.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conclusion : la chaîne marche de bout en bout, la valeur est démontrée, on recommande un déploiement progressif.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Merci — nous sommes prêts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28616" y="640080"/>
            <a:ext cx="233172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936" y="822960"/>
            <a:ext cx="17830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4688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Data-Driven Pricing &amp; Recommandation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914400" y="34290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 Market — e-commerce électronique &amp; accessoires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466344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spcAft>
                <a:spcPts val="8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2 Big Data — ISM  ·  Gestion de Projet Data &amp; E-Business</a:t>
            </a:r>
            <a:endParaRPr lang="en-US" sz="1400" dirty="0"/>
          </a:p>
          <a:p>
            <a:pPr marL="0" indent="0" algn="ctr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Pauline CISSE · P2 Luc-Yvan NZEE EVOUNDZA · P3 Nihad TRAORE · P4 Sona KOULIBALY</a:t>
            </a:r>
            <a:endParaRPr lang="en-US" sz="1400" dirty="0"/>
          </a:p>
          <a:p>
            <a:pPr marL="0" indent="0" algn="ctr">
              <a:spcAft>
                <a:spcPts val="8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 Market : 33,6 Md FCFA de CA, mais trois freins directs à la marge et à la fidélisation.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38728" cy="3017520"/>
          </a:xfrm>
          <a:prstGeom prst="roundRect">
            <a:avLst>
              <a:gd name="adj" fmla="val 2727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48840"/>
            <a:ext cx="3081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fixes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788920"/>
            <a:ext cx="3081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prix ne s'adaptent ni à la demande ni à l'élasticité — de la marge est laissée sur la table.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5112" y="1920240"/>
            <a:ext cx="3538728" cy="3017520"/>
          </a:xfrm>
          <a:prstGeom prst="roundRect">
            <a:avLst>
              <a:gd name="adj" fmla="val 2727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53712" y="2148840"/>
            <a:ext cx="3081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Ruptures &amp; surstock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53712" y="2788920"/>
            <a:ext cx="3081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 Md FCFA de stock immobilisé : ruptures sur les produits populaires, surstock ailleurs.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01584" y="1920240"/>
            <a:ext cx="3538728" cy="3017520"/>
          </a:xfrm>
          <a:prstGeom prst="roundRect">
            <a:avLst>
              <a:gd name="adj" fmla="val 2727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30184" y="2148840"/>
            <a:ext cx="3081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mal exploité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30184" y="2788920"/>
            <a:ext cx="3081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catalogue trop large où le client trouve difficilement les bons produits — panier moyen faible.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objectifs (SMART)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cibles mesurables à 6 mois.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06040" cy="2651760"/>
          </a:xfrm>
          <a:prstGeom prst="roundRect">
            <a:avLst>
              <a:gd name="adj" fmla="val 3158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468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+8 %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5661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brute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(pricing)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2651760"/>
          </a:xfrm>
          <a:prstGeom prst="roundRect">
            <a:avLst>
              <a:gd name="adj" fmla="val 3158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2468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−20 %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520440" y="35661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Ruptures de stock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(prévision)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606040" cy="2651760"/>
          </a:xfrm>
          <a:prstGeom prst="roundRect">
            <a:avLst>
              <a:gd name="adj" fmla="val 3158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2468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+15 %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355080" y="35661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(recommandation)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52560" y="2103120"/>
            <a:ext cx="2606040" cy="2651760"/>
          </a:xfrm>
          <a:prstGeom prst="roundRect">
            <a:avLst>
              <a:gd name="adj" fmla="val 3158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52560" y="2468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−10 %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189720" y="35661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client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(churn)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de la donnée de bout en bout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apps, site, logs de navigation
</a:t>
            </a:r>
            <a:r>
              <a:rPr lang="en-US" sz="1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Kafka (streaming), Spark (batch)
</a:t>
            </a:r>
            <a:r>
              <a:rPr lang="en-US" sz="1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Data Lake (Parquet) + Warehouse (DuckDB)
</a:t>
            </a:r>
            <a:r>
              <a:rPr lang="en-US" sz="1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prévision, pricing, recommandation
</a:t>
            </a:r>
            <a:r>
              <a:rPr lang="en-US" sz="1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REST (FastAPI, Docker)
</a:t>
            </a:r>
            <a:r>
              <a:rPr lang="en-US" sz="16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dashboard décisionnel (Dash)
</a:t>
            </a:r>
            <a:r>
              <a:rPr lang="en-US" sz="16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Transversal</a:t>
            </a: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Airflow, MLOps (MLflow, PSI, CI/CD), gouvernance / RGPD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234440"/>
            <a:ext cx="4626864" cy="5193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synthétique, reproductible (graine 42), 12 mois — modèle en étoile, 5 tables.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3774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catégories)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23774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83280" y="3291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23774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17920" y="3291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10312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52560" y="23774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1 000 000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052560" y="32918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navigation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données validée : 21 contrôles sur 21 (intégrité référentielle, cohérence temporelle).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1 — Prévision de la demande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</a:t>
            </a: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demande quotidienne par catégorie.
Baseline naïve → Prophet → Prophet enrichi de l'effet promotions.
</a:t>
            </a:r>
            <a:r>
              <a:rPr lang="en-US" sz="1700" i="1" dirty="0">
                <a:solidFill>
                  <a:srgbClr val="6B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 directement à anticiper les stocks.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−43 %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53035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d'erreur vs baseline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669280" y="1554480"/>
          <a:ext cx="59436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2 — Optimisation des prix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Élasticité-prix estimée via les promotions </a:t>
            </a:r>
            <a:r>
              <a:rPr 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−2,5)</a:t>
            </a: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 prix optimal maximise la marge produit par produit.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63040" y="2651760"/>
            <a:ext cx="3657600" cy="2651760"/>
          </a:xfrm>
          <a:prstGeom prst="roundRect">
            <a:avLst>
              <a:gd name="adj" fmla="val 3103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463040" y="3017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+14 %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463040" y="3931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prix recommandé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prix actuels)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0" y="310896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7040880" y="2651760"/>
            <a:ext cx="3657600" cy="2651760"/>
          </a:xfrm>
          <a:prstGeom prst="roundRect">
            <a:avLst>
              <a:gd name="adj" fmla="val 3103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040880" y="3017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+3,8 %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040880" y="3931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marge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 : élasticité quasi homogène entre catégories (données synthétiques) — sur données réelles, plus de différenciation.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3 — Recommandation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Hybride : produits similaires (attributs) + achetés ensemble (collaboratif). Évaluation Recall@5.</a:t>
            </a:r>
            <a:endParaRPr lang="en-US" sz="1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37360"/>
          <a:ext cx="64008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011680"/>
            <a:ext cx="4206240" cy="3840480"/>
          </a:xfrm>
          <a:prstGeom prst="roundRect">
            <a:avLst>
              <a:gd name="adj" fmla="val 2143"/>
            </a:avLst>
          </a:prstGeom>
          <a:solidFill>
            <a:srgbClr val="F5F8FB"/>
          </a:solidFill>
          <a:ln w="12700">
            <a:solidFill>
              <a:srgbClr val="F5F8FB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35240" y="2240280"/>
            <a:ext cx="3749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honnête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ce jeu synthétique, rien ne bat la popularité (~6,9 %) ; le collaboratif l'égale (~6,8 %), soit ~7× le hasard.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50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= personnalisation &amp; diversité, à valider par A/B test.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 : mise en production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38728" cy="3291840"/>
          </a:xfrm>
          <a:prstGeom prst="roundRect">
            <a:avLst>
              <a:gd name="adj" fmla="val 2500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2057400"/>
            <a:ext cx="3081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08152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dockerisée, 5 endpoints : prix dynamique, recommandations, historique client.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5112" y="1828800"/>
            <a:ext cx="3538728" cy="3291840"/>
          </a:xfrm>
          <a:prstGeom prst="roundRect">
            <a:avLst>
              <a:gd name="adj" fmla="val 2500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53712" y="2057400"/>
            <a:ext cx="3081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53712" y="2697480"/>
            <a:ext cx="308152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Cockpit Décisionnel » (Dash) — 11 sections : KPIs, prix, prévision, couverture de stock, reco en direct…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01584" y="1828800"/>
            <a:ext cx="3538728" cy="3291840"/>
          </a:xfrm>
          <a:prstGeom prst="roundRect">
            <a:avLst>
              <a:gd name="adj" fmla="val 2500"/>
            </a:avLst>
          </a:prstGeom>
          <a:solidFill>
            <a:srgbClr val="EAF1F9"/>
          </a:solidFill>
          <a:ln w="12700">
            <a:solidFill>
              <a:srgbClr val="EAF1F9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30184" y="2057400"/>
            <a:ext cx="3081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330184" y="2697480"/>
            <a:ext cx="308152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+ monitoring de dérive (PSI) + CI/CD (7 tests). Dépôt Git public auto-suffisant.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3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business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prudent, bénéfice potentiel en régime établi.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2286000"/>
          </a:xfrm>
          <a:prstGeom prst="roundRect">
            <a:avLst>
              <a:gd name="adj" fmla="val 3600"/>
            </a:avLst>
          </a:prstGeom>
          <a:solidFill>
            <a:srgbClr val="0A4C93"/>
          </a:solidFill>
          <a:ln w="12700">
            <a:solidFill>
              <a:srgbClr val="0A4C93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331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635 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FCFA / an de bénéfice potentiel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2011680"/>
            <a:ext cx="3474720" cy="2286000"/>
          </a:xfrm>
          <a:prstGeom prst="roundRect">
            <a:avLst>
              <a:gd name="adj" fmla="val 3600"/>
            </a:avLst>
          </a:prstGeom>
          <a:solidFill>
            <a:srgbClr val="0A4C93"/>
          </a:solidFill>
          <a:ln w="12700">
            <a:solidFill>
              <a:srgbClr val="0A4C93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89120" y="2331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~1 300 %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sur 3 ans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38160" y="2011680"/>
            <a:ext cx="3474720" cy="2286000"/>
          </a:xfrm>
          <a:prstGeom prst="roundRect">
            <a:avLst>
              <a:gd name="adj" fmla="val 3600"/>
            </a:avLst>
          </a:prstGeom>
          <a:solidFill>
            <a:srgbClr val="0A4C93"/>
          </a:solidFill>
          <a:ln w="12700">
            <a:solidFill>
              <a:srgbClr val="0A4C93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38160" y="2331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qq mois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210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sur investissement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 : ~27 M FCFA (setup) + ~36 M FCFA/an.  Leviers : pricing 250 M · reco 135 M · surstock 250 M (+ ~1,72 Md de capital libéré).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live dans le dashboard (API + Dash) :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KPIs de pilotage (CA, marge, conversion, rotation de stock, CLTV)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simulateur de prix « et si… » : faire varier un prix, voir la marge évoluer en direct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couverture de stock : catégories saines vs surstock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recommandation en direct : saisir un client → appel API → recommandations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39496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5F8FB"/>
          </a:solidFill>
          <a:ln w="12700">
            <a:solidFill>
              <a:srgbClr val="F5F8FB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Prévoir 2 terminaux : API (uvicorn, port 8000) + dashboard (python app.py, port 8050).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3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recommandations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fonctionnelle de bout en bout — des données brutes à des décisions chiffrées.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modèles évalués face à des baselines + une valeur business démontrée.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: GO, en déploiement progressif (pricing → prévision → reco après A/B test), avec monitoring continu.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: A/B testing, pricing temps réel, modélisation CLTV / churn.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3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11496" y="1280160"/>
            <a:ext cx="1965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9AA7B4">
                <a:alpha val="35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096" y="1463040"/>
            <a:ext cx="150876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914400" y="393192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 Market — Master 2 Big Data, ISM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1173</Words>
  <Application>Microsoft Office PowerPoint</Application>
  <PresentationFormat>Grand écran</PresentationFormat>
  <Paragraphs>120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Pauline Cisse</cp:lastModifiedBy>
  <cp:revision>2</cp:revision>
  <dcterms:created xsi:type="dcterms:W3CDTF">2026-08-15T23:33:38Z</dcterms:created>
  <dcterms:modified xsi:type="dcterms:W3CDTF">2026-08-15T23:38:43Z</dcterms:modified>
</cp:coreProperties>
</file>